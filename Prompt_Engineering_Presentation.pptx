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78" d="100"/>
          <a:sy n="78" d="100"/>
        </p:scale>
        <p:origin x="942" y="90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2/26/2026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029200" cy="6858000"/>
          </a:xfrm>
          <a:prstGeom prst="rect">
            <a:avLst/>
          </a:prstGeom>
          <a:solidFill>
            <a:srgbClr val="1B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457200" y="1828800"/>
            <a:ext cx="41148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5400" b="1">
                <a:solidFill>
                  <a:srgbClr val="FDFCF8"/>
                </a:solidFill>
              </a:defRPr>
            </a:pPr>
            <a:r>
              <a:t>L'Art du Prompt Engineering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0" y="3200400"/>
            <a:ext cx="5943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>
                <a:solidFill>
                  <a:srgbClr val="BF5737"/>
                </a:solidFill>
              </a:defRPr>
            </a:pPr>
            <a:r>
              <a:t>Guide complet pour maîtriser l'IA générative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F5737"/>
                </a:solidFill>
              </a:defRPr>
            </a:pPr>
            <a:r>
              <a:t>SÉQUENCE 01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Les 5 Règles d'un bon Prompt</a:t>
            </a:r>
          </a:p>
        </p:txBody>
      </p:sp>
      <p:sp>
        <p:nvSpPr>
          <p:cNvPr id="6" name="Oval 5"/>
          <p:cNvSpPr/>
          <p:nvPr/>
        </p:nvSpPr>
        <p:spPr>
          <a:xfrm>
            <a:off x="731520" y="2103120"/>
            <a:ext cx="274320" cy="274320"/>
          </a:xfrm>
          <a:prstGeom prst="ellipse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0116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022"/>
                </a:solidFill>
              </a:defRPr>
            </a:pPr>
            <a:r>
              <a:t>Instructions Claires</a:t>
            </a:r>
          </a:p>
          <a:p>
            <a:pPr>
              <a:defRPr sz="1400">
                <a:solidFill>
                  <a:srgbClr val="1B3022"/>
                </a:solidFill>
              </a:defRPr>
            </a:pPr>
            <a:r>
              <a:t>Inclure un verbe d'action, un objectif et des contraintes.</a:t>
            </a:r>
          </a:p>
        </p:txBody>
      </p:sp>
      <p:sp>
        <p:nvSpPr>
          <p:cNvPr id="8" name="Oval 7"/>
          <p:cNvSpPr/>
          <p:nvPr/>
        </p:nvSpPr>
        <p:spPr>
          <a:xfrm>
            <a:off x="731520" y="3017520"/>
            <a:ext cx="274320" cy="274320"/>
          </a:xfrm>
          <a:prstGeom prst="ellipse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1188720" y="29260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022"/>
                </a:solidFill>
              </a:defRPr>
            </a:pPr>
            <a:r>
              <a:t>Contexte &amp; Rôle</a:t>
            </a:r>
          </a:p>
          <a:p>
            <a:pPr>
              <a:defRPr sz="1400">
                <a:solidFill>
                  <a:srgbClr val="1B3022"/>
                </a:solidFill>
              </a:defRPr>
            </a:pPr>
            <a:r>
              <a:t>Assigner une identité à l'IA (ex: Consultant, Codeur).</a:t>
            </a:r>
          </a:p>
        </p:txBody>
      </p:sp>
      <p:sp>
        <p:nvSpPr>
          <p:cNvPr id="10" name="Oval 9"/>
          <p:cNvSpPr/>
          <p:nvPr/>
        </p:nvSpPr>
        <p:spPr>
          <a:xfrm>
            <a:off x="731520" y="3931920"/>
            <a:ext cx="274320" cy="274320"/>
          </a:xfrm>
          <a:prstGeom prst="ellipse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188720" y="38404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022"/>
                </a:solidFill>
              </a:defRPr>
            </a:pPr>
            <a:r>
              <a:t>Format de Réponse</a:t>
            </a:r>
          </a:p>
          <a:p>
            <a:pPr>
              <a:defRPr sz="1400">
                <a:solidFill>
                  <a:srgbClr val="1B3022"/>
                </a:solidFill>
              </a:defRPr>
            </a:pPr>
            <a:r>
              <a:t>Préciser la structure (Liste, Tableau, JSON, etc.).</a:t>
            </a:r>
          </a:p>
        </p:txBody>
      </p:sp>
      <p:sp>
        <p:nvSpPr>
          <p:cNvPr id="12" name="Oval 11"/>
          <p:cNvSpPr/>
          <p:nvPr/>
        </p:nvSpPr>
        <p:spPr>
          <a:xfrm>
            <a:off x="731520" y="4846320"/>
            <a:ext cx="274320" cy="274320"/>
          </a:xfrm>
          <a:prstGeom prst="ellipse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1188720" y="47548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022"/>
                </a:solidFill>
              </a:defRPr>
            </a:pPr>
            <a:r>
              <a:t>Ton &amp; Style</a:t>
            </a:r>
          </a:p>
          <a:p>
            <a:pPr>
              <a:defRPr sz="1400">
                <a:solidFill>
                  <a:srgbClr val="1B3022"/>
                </a:solidFill>
              </a:defRPr>
            </a:pPr>
            <a:r>
              <a:t>Adapter la voix selon l'audience (Pédagogique, Exécutif).</a:t>
            </a:r>
          </a:p>
        </p:txBody>
      </p:sp>
      <p:sp>
        <p:nvSpPr>
          <p:cNvPr id="14" name="Oval 13"/>
          <p:cNvSpPr/>
          <p:nvPr/>
        </p:nvSpPr>
        <p:spPr>
          <a:xfrm>
            <a:off x="731520" y="5760720"/>
            <a:ext cx="274320" cy="274320"/>
          </a:xfrm>
          <a:prstGeom prst="ellipse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1188720" y="5669280"/>
            <a:ext cx="91440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1B3022"/>
                </a:solidFill>
              </a:defRPr>
            </a:pPr>
            <a:r>
              <a:t>Itération (ABI)</a:t>
            </a:r>
          </a:p>
          <a:p>
            <a:pPr>
              <a:defRPr sz="1400">
                <a:solidFill>
                  <a:srgbClr val="1B3022"/>
                </a:solidFill>
              </a:defRPr>
            </a:pPr>
            <a:r>
              <a:t>Affiner les instructions après la première réponse.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F5737"/>
                </a:solidFill>
              </a:defRPr>
            </a:pPr>
            <a:r>
              <a:t>OUTILS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Frameworks de Structuration</a:t>
            </a:r>
          </a:p>
        </p:txBody>
      </p:sp>
      <p:sp>
        <p:nvSpPr>
          <p:cNvPr id="6" name="Rectangle 5"/>
          <p:cNvSpPr/>
          <p:nvPr/>
        </p:nvSpPr>
        <p:spPr>
          <a:xfrm>
            <a:off x="914400" y="2286000"/>
            <a:ext cx="3931920" cy="3657600"/>
          </a:xfrm>
          <a:prstGeom prst="rect">
            <a:avLst/>
          </a:prstGeom>
          <a:solidFill>
            <a:srgbClr val="E5E2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18872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BF5737"/>
                </a:solidFill>
              </a:defRPr>
            </a:pPr>
            <a:r>
              <a:t>La Règle des 5W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188719" y="3017520"/>
            <a:ext cx="2617161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1600">
                <a:solidFill>
                  <a:srgbClr val="1B3022"/>
                </a:solidFill>
              </a:defRPr>
            </a:pPr>
            <a:r>
              <a:rPr b="1" dirty="0"/>
              <a:t>• Who (</a:t>
            </a:r>
            <a:r>
              <a:rPr b="1" dirty="0" err="1"/>
              <a:t>Rôle</a:t>
            </a:r>
            <a:r>
              <a:rPr b="1" dirty="0"/>
              <a:t>)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rPr b="1" dirty="0"/>
              <a:t>• What (</a:t>
            </a:r>
            <a:r>
              <a:rPr b="1" dirty="0" err="1"/>
              <a:t>Tâche</a:t>
            </a:r>
            <a:r>
              <a:rPr b="1" dirty="0"/>
              <a:t>)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rPr b="1" dirty="0"/>
              <a:t>• Where (</a:t>
            </a:r>
            <a:r>
              <a:rPr b="1" dirty="0" err="1"/>
              <a:t>Périmètre</a:t>
            </a:r>
            <a:r>
              <a:rPr b="1" dirty="0"/>
              <a:t>)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rPr b="1" dirty="0"/>
              <a:t>• When (</a:t>
            </a:r>
            <a:r>
              <a:rPr b="1" dirty="0" err="1"/>
              <a:t>Échéance</a:t>
            </a:r>
            <a:r>
              <a:rPr b="1" dirty="0"/>
              <a:t>)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rPr b="1" dirty="0"/>
              <a:t>• Why (Objectif)</a:t>
            </a:r>
          </a:p>
        </p:txBody>
      </p:sp>
      <p:sp>
        <p:nvSpPr>
          <p:cNvPr id="9" name="Rectangle 8"/>
          <p:cNvSpPr/>
          <p:nvPr/>
        </p:nvSpPr>
        <p:spPr>
          <a:xfrm>
            <a:off x="6400800" y="2286000"/>
            <a:ext cx="4572000" cy="3657600"/>
          </a:xfrm>
          <a:prstGeom prst="rect">
            <a:avLst/>
          </a:prstGeom>
          <a:solidFill>
            <a:srgbClr val="1B30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6675120" y="2468880"/>
            <a:ext cx="3657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FDFCF8"/>
                </a:solidFill>
              </a:defRPr>
            </a:pPr>
            <a:r>
              <a:t>Le Modèle DRAFTIF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75120" y="3017520"/>
            <a:ext cx="36576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endParaRPr/>
          </a:p>
          <a:p>
            <a:pPr>
              <a:defRPr sz="1600">
                <a:solidFill>
                  <a:srgbClr val="FDFCF8"/>
                </a:solidFill>
              </a:defRPr>
            </a:pPr>
            <a:r>
              <a:t>• Contexte / Rôle</a:t>
            </a:r>
          </a:p>
          <a:p>
            <a:pPr>
              <a:defRPr sz="1600">
                <a:solidFill>
                  <a:srgbClr val="FDFCF8"/>
                </a:solidFill>
              </a:defRPr>
            </a:pPr>
            <a:r>
              <a:t>• Action (Livrable)</a:t>
            </a:r>
          </a:p>
          <a:p>
            <a:pPr>
              <a:defRPr sz="1600">
                <a:solidFill>
                  <a:srgbClr val="FDFCF8"/>
                </a:solidFill>
              </a:defRPr>
            </a:pPr>
            <a:r>
              <a:t>• Format / Ton</a:t>
            </a:r>
          </a:p>
          <a:p>
            <a:pPr>
              <a:defRPr sz="1600">
                <a:solidFill>
                  <a:srgbClr val="FDFCF8"/>
                </a:solidFill>
              </a:defRPr>
            </a:pPr>
            <a:r>
              <a:t>• Intention / Feedback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F5737"/>
                </a:solidFill>
              </a:defRPr>
            </a:pPr>
            <a:r>
              <a:t>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Approches Avancées (Niveau Expert)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3474720" cy="3657600"/>
          </a:xfrm>
          <a:prstGeom prst="rect">
            <a:avLst/>
          </a:prstGeom>
          <a:solidFill>
            <a:srgbClr val="E5E2DB"/>
          </a:solidFill>
          <a:ln>
            <a:solidFill>
              <a:srgbClr val="BF5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73152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F5737"/>
                </a:solidFill>
              </a:defRPr>
            </a:pPr>
            <a:r>
              <a:t>Prompt Chaining</a:t>
            </a:r>
          </a:p>
          <a:p>
            <a:br/>
            <a:r>
              <a:t>Diviser une tâche complexe en une série d'étapes séquentielles.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4389120" y="2286000"/>
            <a:ext cx="3474720" cy="3657600"/>
          </a:xfrm>
          <a:prstGeom prst="rect">
            <a:avLst/>
          </a:prstGeom>
          <a:solidFill>
            <a:srgbClr val="E5E2DB"/>
          </a:solidFill>
          <a:ln>
            <a:solidFill>
              <a:srgbClr val="BF5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F5737"/>
                </a:solidFill>
              </a:defRPr>
            </a:pPr>
            <a:r>
              <a:t>Chain of Thought</a:t>
            </a:r>
          </a:p>
          <a:p>
            <a:br/>
            <a:r>
              <a:t>Ajouter 'raisonne étape par étape' pour réduire les erreurs.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8229600" y="2286000"/>
            <a:ext cx="3474720" cy="3657600"/>
          </a:xfrm>
          <a:prstGeom prst="rect">
            <a:avLst/>
          </a:prstGeom>
          <a:solidFill>
            <a:srgbClr val="E5E2DB"/>
          </a:solidFill>
          <a:ln>
            <a:solidFill>
              <a:srgbClr val="BF573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8412480" y="2560320"/>
            <a:ext cx="310896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000" b="1">
                <a:solidFill>
                  <a:srgbClr val="BF5737"/>
                </a:solidFill>
              </a:defRPr>
            </a:pPr>
            <a:r>
              <a:t>Tree of Thought</a:t>
            </a:r>
          </a:p>
          <a:p>
            <a:br/>
            <a:r>
              <a:t>Générer et comparer plusieurs stratégies en parallèle.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DFCF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365760"/>
            <a:ext cx="91440" cy="914400"/>
          </a:xfrm>
          <a:prstGeom prst="rect">
            <a:avLst/>
          </a:prstGeom>
          <a:solidFill>
            <a:srgbClr val="BF573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365760"/>
            <a:ext cx="3657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b="1">
                <a:solidFill>
                  <a:srgbClr val="BF5737"/>
                </a:solidFill>
              </a:defRPr>
            </a:pPr>
            <a:r>
              <a:t>AVANCÉ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3152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600" b="1">
                <a:solidFill>
                  <a:srgbClr val="1B3022"/>
                </a:solidFill>
              </a:defRPr>
            </a:pPr>
            <a:r>
              <a:t>Maîtriser les Derniers Leviers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286000"/>
            <a:ext cx="10972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914400" y="24688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022"/>
                </a:solidFill>
              </a:defRPr>
            </a:pPr>
            <a:r>
              <a:t>Few-Shot Prompting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Fournir des exemples concrets pour guider le style de sortie.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4114800"/>
            <a:ext cx="10972800" cy="1371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914400" y="429768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200" b="1">
                <a:solidFill>
                  <a:srgbClr val="1B3022"/>
                </a:solidFill>
              </a:defRPr>
            </a:pPr>
            <a:r>
              <a:t>Meta Prompting</a:t>
            </a:r>
          </a:p>
          <a:p>
            <a:pPr>
              <a:defRPr sz="1600">
                <a:solidFill>
                  <a:srgbClr val="1B3022"/>
                </a:solidFill>
              </a:defRPr>
            </a:pPr>
            <a:r>
              <a:t>Utiliser l'IA pour générer le prompt optimal à votre place.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2704</TotalTime>
  <Words>217</Words>
  <Application>Microsoft Office PowerPoint</Application>
  <PresentationFormat>Widescreen</PresentationFormat>
  <Paragraphs>42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Cyrille ESSOH</cp:lastModifiedBy>
  <cp:revision>2</cp:revision>
  <dcterms:created xsi:type="dcterms:W3CDTF">2013-01-27T09:14:16Z</dcterms:created>
  <dcterms:modified xsi:type="dcterms:W3CDTF">2026-02-28T16:32:12Z</dcterms:modified>
  <cp:category/>
</cp:coreProperties>
</file>