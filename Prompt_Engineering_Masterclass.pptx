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DFCF8"/>
                </a:solidFill>
              </a:defRPr>
            </a:pPr>
            <a:r>
              <a:t>Prompt Engineering : Guide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3200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F5737"/>
                </a:solidFill>
              </a:defRPr>
            </a:pPr>
            <a:r>
              <a:t>Bases textuelles &amp; Architecture visuelle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FONDATIONS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Les 5 Règles d'Or du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B3022"/>
                </a:solidFill>
              </a:defRPr>
            </a:pPr>
            <a:r>
              <a:t>• Instructions Claires : Verbe d'action, objectif et contraintes.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B3022"/>
                </a:solidFill>
              </a:defRPr>
            </a:pPr>
            <a:r>
              <a:t>• Contexte &amp; Rôle : Donner une identité (ex: Consultant, Codeur).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B3022"/>
                </a:solidFill>
              </a:defRPr>
            </a:pPr>
            <a:r>
              <a:t>• Format de Réponse : Liste, Tableau, JSON, Markdown.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B3022"/>
                </a:solidFill>
              </a:defRPr>
            </a:pPr>
            <a:r>
              <a:t>• Ton &amp; Style : Adapter la voix à l'audience.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B3022"/>
                </a:solidFill>
              </a:defRPr>
            </a:pPr>
            <a:r>
              <a:t>• Itération (ABI) : Affiner pour obtenir le résultat idéal.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PROMPTING VISUEL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La Formule de l'Image Parfaite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solidFill>
            <a:srgbClr val="1B30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DFCF8"/>
                </a:solidFill>
              </a:defRPr>
            </a:pPr>
            <a:r>
              <a:t>[Sujet] + [Style] + [Composition] + [Ambiance] + [Techniques]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BF5737"/>
                </a:solidFill>
              </a:defRPr>
            </a:pPr>
            <a:r>
              <a:t>1. Sujet Principal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L'élément central (Astronaute, château, robot).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BF5737"/>
                </a:solidFill>
              </a:defRPr>
            </a:pPr>
            <a:r>
              <a:t>2. Style Artistique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Cyberpunk, encre, peinture numérique, style Ghibli.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BF5737"/>
                </a:solidFill>
              </a:defRPr>
            </a:pPr>
            <a:r>
              <a:t>3. Composition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Cadrage (Vue en contre-plongée, plan large, portrait).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BF5737"/>
                </a:solidFill>
              </a:defRPr>
            </a:pPr>
            <a:r>
              <a:t>4. Ambiance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Lumière et émotion (Lumière dorée, mystérieux, pluie).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BF5737"/>
                </a:solidFill>
              </a:defRPr>
            </a:pPr>
            <a:r>
              <a:t>5. Mots-clés Techniques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Précision (Objectif 85mm, bokeh, 4K, ultra détaillé).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EXEMPLES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Du Prompt Concis au Prompt Expert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5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BF5737"/>
                </a:solidFill>
              </a:defRPr>
            </a:pPr>
            <a:r>
              <a:t>Niveau 1 : Prompt Direct</a:t>
            </a:r>
          </a:p>
          <a:p>
            <a:pPr>
              <a:defRPr sz="1600" i="1"/>
            </a:pPr>
            <a:r>
              <a:t>« Un samouraï, style peinture numérique japonaise, plan rapproché, ambiance dramatique sous la pluie, ultra détaillé.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BF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BF5737"/>
                </a:solidFill>
              </a:defRPr>
            </a:pPr>
            <a:r>
              <a:t>Niveau 2 : L'Expert (Le Banquet)</a:t>
            </a:r>
          </a:p>
          <a:p>
            <a:pPr>
              <a:defRPr sz="1400"/>
            </a:pPr>
            <a:r>
              <a:t>Sujet : Banquet d'ours, roi sur trône, humain clown.</a:t>
            </a:r>
            <a:br/>
            <a:r>
              <a:t>Style : Cartoon avec effet crayon.</a:t>
            </a:r>
            <a:br/>
            <a:r>
              <a:t>Composition : Paysage grand-angle focalisé sur le roi.</a:t>
            </a:r>
            <a:br/>
            <a:r>
              <a:t>Ambiance : Loufoque et absurde.</a:t>
            </a:r>
            <a:br/>
            <a:r>
              <a:t>Couleurs : Palette vive (jaune, orange) vs pierre grise.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Frameworks de Pensée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solidFill>
            <a:srgbClr val="E5E2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BF5737"/>
                </a:solidFill>
              </a:defRPr>
            </a:pPr>
            <a:r>
              <a:t>La Règle des 5W</a:t>
            </a:r>
          </a:p>
          <a:p>
            <a:pPr>
              <a:defRPr sz="1600"/>
            </a:pPr>
            <a:r>
              <a:t>• Who (Rôle)</a:t>
            </a:r>
          </a:p>
          <a:p>
            <a:pPr>
              <a:defRPr sz="1600"/>
            </a:pPr>
            <a:r>
              <a:t>• What (Tâche)</a:t>
            </a:r>
          </a:p>
          <a:p>
            <a:pPr>
              <a:defRPr sz="1600"/>
            </a:pPr>
            <a:r>
              <a:t>• Where (Périmètre)</a:t>
            </a:r>
          </a:p>
          <a:p>
            <a:pPr>
              <a:defRPr sz="1600"/>
            </a:pPr>
            <a:r>
              <a:t>• When (Échéance)</a:t>
            </a:r>
          </a:p>
          <a:p>
            <a:pPr>
              <a:defRPr sz="1600"/>
            </a:pPr>
            <a:r>
              <a:t>• Why (Objectif)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4572000" cy="3200400"/>
          </a:xfrm>
          <a:prstGeom prst="rect">
            <a:avLst/>
          </a:prstGeom>
          <a:solidFill>
            <a:srgbClr val="1B30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DFCF8"/>
                </a:solidFill>
              </a:defRPr>
            </a:pPr>
            <a:r>
              <a:t>Le Modèle DRAFTIF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Contexte / Rôle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Action / Format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Ton / Intention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Prompting de Niveau 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BF5737"/>
                </a:solidFill>
              </a:defRPr>
            </a:pPr>
            <a:r>
              <a:t>Prompt Chaining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Diviser une tâche immense en étapes logiques.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BF5737"/>
                </a:solidFill>
              </a:defRPr>
            </a:pPr>
            <a:r>
              <a:t>Chain of Thought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Ajouter 'raisonne étape par étape' pour la logique.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BF5737"/>
                </a:solidFill>
              </a:defRPr>
            </a:pPr>
            <a:r>
              <a:t>Few-Shot Prompting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Donner des exemples concrets pour guider l'IA.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BF5737"/>
                </a:solidFill>
              </a:defRPr>
            </a:pPr>
            <a:r>
              <a:t>Meta Prompting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Demander à l'IA de rédiger le prompt pour vous.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